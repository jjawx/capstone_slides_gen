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ctrTitle"/>
          </p:nvPr>
        </p:nvSpPr>
        <p:spPr/>
        <p:txBody>
          <a:bodyPr/>
          <a:lstStyle/>
          <a:p>
            <a:pPr>
              <a:defRPr sz="4000" b="1">
                <a:solidFill>
                  <a:srgbClr val="000000"/>
                </a:solidFill>
              </a:defRPr>
            </a:pPr>
            <a:r>
              <a:t>新加坡餐饮店市场份额调研报告</a:t>
            </a:r>
          </a:p>
        </p:txBody>
      </p:sp>
      <p:sp>
        <p:nvSpPr>
          <p:cNvPr id="3" name="Subtitle 2"/>
          <p:cNvSpPr>
            <a:spLocks noGrp="1"/>
          </p:cNvSpPr>
          <p:nvPr>
            <p:ph type="subTitle" idx="1"/>
          </p:nvPr>
        </p:nvSpPr>
        <p:spPr/>
        <p:txBody>
          <a:bodyPr/>
          <a:lstStyle/>
          <a:p>
            <a:pPr>
              <a:defRPr sz="2000">
                <a:solidFill>
                  <a:srgbClr val="000000"/>
                </a:solidFill>
              </a:defRPr>
            </a:pPr>
            <a:r>
              <a:t>Presentation for 新加坡餐饮店市场份额调研报告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引言</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研究背景</a:t>
            </a:r>
          </a:p>
          <a:p>
            <a:pPr>
              <a:spcBef>
                <a:spcPts val="700"/>
              </a:spcBef>
              <a:spcAft>
                <a:spcPts val="1400"/>
              </a:spcAft>
              <a:defRPr sz="2200" b="1">
                <a:solidFill>
                  <a:srgbClr val="000000"/>
                </a:solidFill>
              </a:defRPr>
            </a:pPr>
            <a:r>
              <a:t>研究目的</a:t>
            </a:r>
          </a:p>
          <a:p>
            <a:pPr>
              <a:spcBef>
                <a:spcPts val="700"/>
              </a:spcBef>
              <a:spcAft>
                <a:spcPts val="1400"/>
              </a:spcAft>
              <a:defRPr sz="2200" b="1">
                <a:solidFill>
                  <a:srgbClr val="000000"/>
                </a:solidFill>
              </a:defRPr>
            </a:pPr>
            <a:r>
              <a:t>研究方法简介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新加坡餐饮市场概况</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市场规模</a:t>
            </a:r>
          </a:p>
          <a:p>
            <a:pPr>
              <a:spcBef>
                <a:spcPts val="700"/>
              </a:spcBef>
              <a:spcAft>
                <a:spcPts val="1400"/>
              </a:spcAft>
              <a:defRPr sz="2200" b="1">
                <a:solidFill>
                  <a:srgbClr val="000000"/>
                </a:solidFill>
              </a:defRPr>
            </a:pPr>
            <a:r>
              <a:t>消费者偏好</a:t>
            </a:r>
          </a:p>
          <a:p>
            <a:pPr>
              <a:spcBef>
                <a:spcPts val="700"/>
              </a:spcBef>
              <a:spcAft>
                <a:spcPts val="1400"/>
              </a:spcAft>
              <a:defRPr sz="2200" b="1">
                <a:solidFill>
                  <a:srgbClr val="000000"/>
                </a:solidFill>
              </a:defRPr>
            </a:pPr>
            <a:r>
              <a:t>市场趋势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餐饮店分类</a:t>
            </a:r>
          </a:p>
        </p:txBody>
      </p:sp>
      <p:sp>
        <p:nvSpPr>
          <p:cNvPr id="3" name="Content Placeholder 2"/>
          <p:cNvSpPr>
            <a:spLocks noGrp="1"/>
          </p:cNvSpPr>
          <p:nvPr>
            <p:ph idx="1"/>
          </p:nvPr>
        </p:nvSpPr>
        <p:spPr/>
        <p:txBody>
          <a:bodyPr/>
          <a:lstStyle/>
          <a:p/>
          <a:p>
            <a:pPr algn="just">
              <a:spcAft>
                <a:spcPts val="1000"/>
              </a:spcAft>
              <a:defRPr sz="2400">
                <a:solidFill>
                  <a:srgbClr val="000000"/>
                </a:solidFill>
              </a:defRPr>
            </a:pPr>
            <a:r>
              <a:t>新加坡的餐饮市场极具多样性，涵盖了从传统餐厅、快餐店到街边小吃等多种形式。传统餐厅在新加坡提供了多元化的美食选择，从本地美食到国际料理，满足了不同顾客的口味需求，同时也代表了新加坡作为一个多元文化国家的饮食文化。快餐店因其快速便捷的服务和统一的食品质量，在年轻人和上班族中特别受欢迎，成为新加坡餐饮市场的重要组成部分。街边小吃作为新加坡文化的一个重要标志，以其多样化的美食、亲民的价格和独特的就餐体验，吸引着大量的本地人和游客。此外，还有一些其他类型的餐饮服务在新加坡市场占有一席之地，如主题餐厅、咖啡馆等，这些不仅提供美食，还提供了独特的就餐氛围和体验。整体而言，新加坡的餐饮市场显示出了旺盛的生命力和广阔的发展空间，各类餐饮店各具特色，满足了市场上不同顾客群体的需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数据采集与分析方法</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数据来源</a:t>
            </a:r>
          </a:p>
          <a:p>
            <a:pPr>
              <a:spcBef>
                <a:spcPts val="700"/>
              </a:spcBef>
              <a:spcAft>
                <a:spcPts val="1400"/>
              </a:spcAft>
              <a:defRPr sz="2200" b="1">
                <a:solidFill>
                  <a:srgbClr val="000000"/>
                </a:solidFill>
              </a:defRPr>
            </a:pPr>
            <a:r>
              <a:t>数据采集方法</a:t>
            </a:r>
          </a:p>
          <a:p>
            <a:pPr>
              <a:spcBef>
                <a:spcPts val="700"/>
              </a:spcBef>
              <a:spcAft>
                <a:spcPts val="1400"/>
              </a:spcAft>
              <a:defRPr sz="2200" b="1">
                <a:solidFill>
                  <a:srgbClr val="000000"/>
                </a:solidFill>
              </a:defRPr>
            </a:pPr>
            <a:r>
              <a:t>分析工具和方法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5" name="Picture 4"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份额占比分析</a:t>
            </a:r>
          </a:p>
        </p:txBody>
      </p:sp>
      <p:sp>
        <p:nvSpPr>
          <p:cNvPr id="3" name="Content Placeholder 2"/>
          <p:cNvSpPr>
            <a:spLocks noGrp="1"/>
          </p:cNvSpPr>
          <p:nvPr>
            <p:ph idx="1" sz="half"/>
          </p:nvPr>
        </p:nvSpPr>
        <p:spPr/>
        <p:txBody>
          <a:bodyPr/>
          <a:lstStyle/>
          <a:p/>
          <a:p>
            <a:pPr algn="just">
              <a:spcAft>
                <a:spcPts val="1000"/>
              </a:spcAft>
              <a:defRPr sz="2400">
                <a:solidFill>
                  <a:srgbClr val="000000"/>
                </a:solidFill>
              </a:defRPr>
            </a:pPr>
            <a:r>
              <a:t>在新加坡餐饮店市场份额调研报告中，份额占比分析展现了各类餐饮店在市场中的份额变化趋势。通过对过去几年的数据进行折线图分析，我们可以观察到快餐店、家庭式餐馆、精致餐厅以及街头小吃在市场中的份额变化。这些变化受到多种因素的影响，包括消费者偏好的转变、经济状况、以及新兴餐饮概念的引入。例如，随着健康饮食趋势的兴起，提供健康菜品的餐厅份额有所增长。同时，经济的波动也对消费者的餐饮选择产生了影响，经济状况好的时候，人们更倾向于到精致餐厅就餐，而经济不景气时，快餐店和家庭式餐馆的市场份额则会有所上升。此外，新技术的应用，如在线订餐平台的普及，也极大地改变了餐饮业的市场格局，促使一些类型的餐饮店市场份额增加。整体而言，这份调研报告深入分析了市场份额的变动趋势和背后的原因，为餐饮业内的投资者和经营者提供了宝贵的信息。</a:t>
            </a:r>
          </a:p>
        </p:txBody>
      </p:sp>
      <p:sp>
        <p:nvSpPr>
          <p:cNvPr id="4" name="Content Placeholder 3"/>
          <p:cNvSpPr>
            <a:spLocks noGrp="1"/>
          </p:cNvSpPr>
          <p:nvPr>
            <p:ph idx="2" sz="half"/>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5" name="Picture 4"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细分市场表现</a:t>
            </a:r>
          </a:p>
        </p:txBody>
      </p:sp>
      <p:sp>
        <p:nvSpPr>
          <p:cNvPr id="3" name="Content Placeholder 2"/>
          <p:cNvSpPr>
            <a:spLocks noGrp="1"/>
          </p:cNvSpPr>
          <p:nvPr>
            <p:ph idx="1" sz="half"/>
          </p:nvPr>
        </p:nvSpPr>
        <p:spPr/>
        <p:txBody>
          <a:bodyPr/>
          <a:lstStyle/>
          <a:p/>
          <a:p>
            <a:pPr algn="just">
              <a:spcAft>
                <a:spcPts val="1000"/>
              </a:spcAft>
              <a:defRPr sz="2400">
                <a:solidFill>
                  <a:srgbClr val="000000"/>
                </a:solidFill>
              </a:defRPr>
            </a:pPr>
            <a:r>
              <a:t>在新加坡餐饮店市场份额调研报告中，我们对各细分市场的表现进行了深入分析。首先，我们观察到新加坡餐饮市场呈现多元化趋势，不同细分市场根据消费者偏好和地理位置有着显著不同的市场份额。例如，快餐业务因其快捷便利的特点在忙碌的商业区域拥有较大的市场份额。其次，年度增长率方面，健康餐饮和特色餐厅因应健康饮食趋势和消费者追求个性化体验的需求，显示出比传统快餐和家庭式餐馆更高的增长速度。最后，市场预测显示，随着新加坡人口结构和生活方式的变化，预计未来几年内，健康餐饮和特色餐厅将继续保持较高增长率，而快餐业务的市场份额可能会因为人们对健康饮食意识的提升而受到一定影响。整体而言，新加坡餐饮市场的未来发展趋势将更加侧重于健康、便利和个性化体验。</a:t>
            </a:r>
          </a:p>
        </p:txBody>
      </p:sp>
      <p:sp>
        <p:nvSpPr>
          <p:cNvPr id="4" name="Content Placeholder 3"/>
          <p:cNvSpPr>
            <a:spLocks noGrp="1"/>
          </p:cNvSpPr>
          <p:nvPr>
            <p:ph idx="2" sz="half"/>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挑战与机遇</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市场挑战</a:t>
            </a:r>
          </a:p>
          <a:p>
            <a:pPr>
              <a:spcBef>
                <a:spcPts val="700"/>
              </a:spcBef>
              <a:spcAft>
                <a:spcPts val="1400"/>
              </a:spcAft>
              <a:defRPr sz="2200" b="1">
                <a:solidFill>
                  <a:srgbClr val="000000"/>
                </a:solidFill>
              </a:defRPr>
            </a:pPr>
            <a:r>
              <a:t>增长机遇</a:t>
            </a:r>
          </a:p>
          <a:p>
            <a:pPr>
              <a:spcBef>
                <a:spcPts val="700"/>
              </a:spcBef>
              <a:spcAft>
                <a:spcPts val="1400"/>
              </a:spcAft>
              <a:defRPr sz="2200" b="1">
                <a:solidFill>
                  <a:srgbClr val="000000"/>
                </a:solidFill>
              </a:defRPr>
            </a:pPr>
            <a:r>
              <a:t>战略建议</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结论与建议</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研究主要发现</a:t>
            </a:r>
          </a:p>
          <a:p>
            <a:pPr>
              <a:spcBef>
                <a:spcPts val="700"/>
              </a:spcBef>
              <a:spcAft>
                <a:spcPts val="1400"/>
              </a:spcAft>
              <a:defRPr sz="2200" b="1">
                <a:solidFill>
                  <a:srgbClr val="000000"/>
                </a:solidFill>
              </a:defRPr>
            </a:pPr>
            <a:r>
              <a:t>投资建议</a:t>
            </a:r>
          </a:p>
          <a:p>
            <a:pPr>
              <a:spcBef>
                <a:spcPts val="700"/>
              </a:spcBef>
              <a:spcAft>
                <a:spcPts val="1400"/>
              </a:spcAft>
              <a:defRPr sz="2200" b="1">
                <a:solidFill>
                  <a:srgbClr val="000000"/>
                </a:solidFill>
              </a:defRPr>
            </a:pPr>
            <a:r>
              <a:t>市场战略建议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aphicFrame>
        <p:nvGraphicFramePr>
          <p:cNvPr id="2" name="Table 1"/>
          <p:cNvGraphicFramePr>
            <a:graphicFrameLocks noGrp="1"/>
          </p:cNvGraphicFramePr>
          <p:nvPr/>
        </p:nvGraphicFramePr>
        <p:xfrm>
          <a:off x="914400" y="1828800"/>
          <a:ext cx="7315200" cy="3200400"/>
        </p:xfrm>
        <a:graphic>
          <a:graphicData uri="http://schemas.openxmlformats.org/drawingml/2006/table">
            <a:tbl>
              <a:tblPr firstRow="1" bandRow="1">
                <a:tableStyleId>{5C22544A-7EE6-4342-B048-85BDC9FD1C3A}</a:tableStyleId>
              </a:tblPr>
              <a:tblGrid>
                <a:gridCol w="3657600"/>
                <a:gridCol w="3657600"/>
              </a:tblGrid>
              <a:tr h="533400">
                <a:tc>
                  <a:txBody>
                    <a:bodyPr/>
                    <a:lstStyle/>
                    <a:p>
                      <a:pPr algn="ctr">
                        <a:defRPr b="1">
                          <a:solidFill>
                            <a:srgbClr val="FFFFFF"/>
                          </a:solidFill>
                        </a:defRPr>
                      </a:pPr>
                      <a:r>
                        <a:t>关键点</a:t>
                      </a:r>
                    </a:p>
                  </a:txBody>
                  <a:tcPr>
                    <a:solidFill>
                      <a:srgbClr val="003366"/>
                    </a:solidFill>
                  </a:tcPr>
                </a:tc>
                <a:tc>
                  <a:txBody>
                    <a:bodyPr/>
                    <a:lstStyle/>
                    <a:p>
                      <a:pPr algn="ctr">
                        <a:defRPr b="1">
                          <a:solidFill>
                            <a:srgbClr val="FFFFFF"/>
                          </a:solidFill>
                        </a:defRPr>
                      </a:pPr>
                      <a:r>
                        <a:t>描述</a:t>
                      </a:r>
                    </a:p>
                  </a:txBody>
                  <a:tcPr>
                    <a:solidFill>
                      <a:srgbClr val="003366"/>
                    </a:solidFill>
                  </a:tcPr>
                </a:tc>
              </a:tr>
              <a:tr h="533400">
                <a:tc>
                  <a:txBody>
                    <a:bodyPr/>
                    <a:lstStyle/>
                    <a:p>
                      <a:pPr algn="l">
                        <a:defRPr sz="1400">
                          <a:solidFill>
                            <a:srgbClr val="000000"/>
                          </a:solidFill>
                        </a:defRPr>
                      </a:pPr>
                      <a:r>
                        <a:t>市场占有率</a:t>
                      </a:r>
                    </a:p>
                  </a:txBody>
                  <a:tcPr/>
                </a:tc>
                <a:tc>
                  <a:txBody>
                    <a:bodyPr/>
                    <a:lstStyle/>
                    <a:p>
                      <a:pPr algn="l">
                        <a:defRPr sz="1400">
                          <a:solidFill>
                            <a:srgbClr val="000000"/>
                          </a:solidFill>
                        </a:defRPr>
                      </a:pPr>
                      <a:r>
                        <a:t>本地连锁餐厅占总市场的45%，独立餐厅占55%。</a:t>
                      </a:r>
                    </a:p>
                  </a:txBody>
                  <a:tcPr/>
                </a:tc>
              </a:tr>
              <a:tr h="533400">
                <a:tc>
                  <a:txBody>
                    <a:bodyPr/>
                    <a:lstStyle/>
                    <a:p>
                      <a:pPr algn="l">
                        <a:defRPr sz="1400">
                          <a:solidFill>
                            <a:srgbClr val="000000"/>
                          </a:solidFill>
                        </a:defRPr>
                      </a:pPr>
                      <a:r>
                        <a:t>消费者偏好</a:t>
                      </a:r>
                    </a:p>
                  </a:txBody>
                  <a:tcPr/>
                </a:tc>
                <a:tc>
                  <a:txBody>
                    <a:bodyPr/>
                    <a:lstStyle/>
                    <a:p>
                      <a:pPr algn="l">
                        <a:defRPr sz="1400">
                          <a:solidFill>
                            <a:srgbClr val="000000"/>
                          </a:solidFill>
                        </a:defRPr>
                      </a:pPr>
                      <a:r>
                        <a:t>消费者更偏爱具有本地特色的菜肴，对健康选项的需求增加。</a:t>
                      </a:r>
                    </a:p>
                  </a:txBody>
                  <a:tcPr/>
                </a:tc>
              </a:tr>
              <a:tr h="533400">
                <a:tc>
                  <a:txBody>
                    <a:bodyPr/>
                    <a:lstStyle/>
                    <a:p>
                      <a:pPr algn="l">
                        <a:defRPr sz="1400">
                          <a:solidFill>
                            <a:srgbClr val="000000"/>
                          </a:solidFill>
                        </a:defRPr>
                      </a:pPr>
                      <a:r>
                        <a:t>技术投资</a:t>
                      </a:r>
                    </a:p>
                  </a:txBody>
                  <a:tcPr/>
                </a:tc>
                <a:tc>
                  <a:txBody>
                    <a:bodyPr/>
                    <a:lstStyle/>
                    <a:p>
                      <a:pPr algn="l">
                        <a:defRPr sz="1400">
                          <a:solidFill>
                            <a:srgbClr val="000000"/>
                          </a:solidFill>
                        </a:defRPr>
                      </a:pPr>
                      <a:r>
                        <a:t>成功的餐饮业者正在投资于在线订餐系统和自动化服务以提升效率。</a:t>
                      </a:r>
                    </a:p>
                  </a:txBody>
                  <a:tcPr/>
                </a:tc>
              </a:tr>
              <a:tr h="533400">
                <a:tc>
                  <a:txBody>
                    <a:bodyPr/>
                    <a:lstStyle/>
                    <a:p>
                      <a:pPr algn="l">
                        <a:defRPr sz="1400">
                          <a:solidFill>
                            <a:srgbClr val="000000"/>
                          </a:solidFill>
                        </a:defRPr>
                      </a:pPr>
                      <a:r>
                        <a:t>市场挑战</a:t>
                      </a:r>
                    </a:p>
                  </a:txBody>
                  <a:tcPr/>
                </a:tc>
                <a:tc>
                  <a:txBody>
                    <a:bodyPr/>
                    <a:lstStyle/>
                    <a:p>
                      <a:pPr algn="l">
                        <a:defRPr sz="1400">
                          <a:solidFill>
                            <a:srgbClr val="000000"/>
                          </a:solidFill>
                        </a:defRPr>
                      </a:pPr>
                      <a:r>
                        <a:t>租金高涨和劳动力短缺仍是主要挑战。</a:t>
                      </a:r>
                    </a:p>
                  </a:txBody>
                  <a:tcPr/>
                </a:tc>
              </a:tr>
              <a:tr h="533400">
                <a:tc>
                  <a:txBody>
                    <a:bodyPr/>
                    <a:lstStyle/>
                    <a:p>
                      <a:pPr algn="l">
                        <a:defRPr sz="1400">
                          <a:solidFill>
                            <a:srgbClr val="000000"/>
                          </a:solidFill>
                        </a:defRPr>
                      </a:pPr>
                      <a:r>
                        <a:t>未来趋势</a:t>
                      </a:r>
                    </a:p>
                  </a:txBody>
                  <a:tcPr/>
                </a:tc>
                <a:tc>
                  <a:txBody>
                    <a:bodyPr/>
                    <a:lstStyle/>
                    <a:p>
                      <a:pPr algn="l">
                        <a:defRPr sz="1400">
                          <a:solidFill>
                            <a:srgbClr val="000000"/>
                          </a:solidFill>
                        </a:defRPr>
                      </a:pPr>
                      <a:r>
                        <a:t>预计到2025年，通过数字化转型，更多餐厅将提升服务质量和运营效率。</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