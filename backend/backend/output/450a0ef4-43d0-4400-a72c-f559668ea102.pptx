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Analysis of Singapore's Restaurant Market Share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Presentation on the Analysis of Singapore's Restaurant Market Share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2200" b="1">
                <a:solidFill>
                  <a:srgbClr val="000000"/>
                </a:solidFill>
              </a:defRPr>
            </a:pPr>
            <a:r>
              <a:t>Purpose of this analysis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2200">
                <a:solidFill>
                  <a:srgbClr val="000000"/>
                </a:solidFill>
              </a:defRPr>
            </a:pPr>
            <a:r>
              <a:t>Overview of Singapore's restaurant industry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2200" b="1">
                <a:solidFill>
                  <a:srgbClr val="000000"/>
                </a:solidFill>
              </a:defRPr>
            </a:pPr>
            <a:r>
              <a:t>Presentation objectives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Research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</a:pPr>
            <a:r>
              <a:rPr b="1" sz="1800">
                <a:solidFill>
                  <a:srgbClr val="000000"/>
                </a:solidFill>
              </a:rPr>
              <a:t>Data sources:</a:t>
            </a:r>
            <a:r>
              <a:rPr sz="1800">
                <a:solidFill>
                  <a:srgbClr val="000000"/>
                </a:solidFill>
              </a:rPr>
              <a:t> Government publications, industry reports, consumer surveys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</a:pPr>
            <a:r>
              <a:rPr b="1" sz="1800">
                <a:solidFill>
                  <a:srgbClr val="000000"/>
                </a:solidFill>
              </a:rPr>
              <a:t>Restaurant selection criteria:</a:t>
            </a:r>
            <a:r>
              <a:rPr sz="1800">
                <a:solidFill>
                  <a:srgbClr val="000000"/>
                </a:solidFill>
              </a:rPr>
              <a:t> Market share, innovation, customer satisfaction</a:t>
            </a:r>
          </a:p>
          <a:p>
            <a:pPr>
              <a:spcBef>
                <a:spcPts val="700"/>
              </a:spcBef>
              <a:spcAft>
                <a:spcPts val="1400"/>
              </a:spcAft>
            </a:pPr>
            <a:r>
              <a:rPr b="1" sz="1800">
                <a:solidFill>
                  <a:srgbClr val="000000"/>
                </a:solidFill>
              </a:rPr>
              <a:t>Analytical tools overview:</a:t>
            </a:r>
            <a:r>
              <a:rPr sz="1800">
                <a:solidFill>
                  <a:srgbClr val="000000"/>
                </a:solidFill>
              </a:rPr>
              <a:t> Market share analysis, SWOT analysis, trend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2200" b="1">
                <a:solidFill>
                  <a:srgbClr val="000000"/>
                </a:solidFill>
              </a:defRPr>
            </a:pPr>
            <a:r>
              <a:t>Market size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2200" b="1">
                <a:solidFill>
                  <a:srgbClr val="000000"/>
                </a:solidFill>
              </a:defRPr>
            </a:pPr>
            <a:r>
              <a:t>Market key players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2200" b="1">
                <a:solidFill>
                  <a:srgbClr val="000000"/>
                </a:solidFill>
              </a:defRPr>
            </a:pPr>
            <a:r>
              <a:t>Recent market trends and developments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Data Presentation - Line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2200" b="1">
                <a:solidFill>
                  <a:srgbClr val="000000"/>
                </a:solidFill>
              </a:defRPr>
            </a:pPr>
            <a:r>
              <a:t>Year-over-year changes in market share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2200" b="1">
                <a:solidFill>
                  <a:srgbClr val="000000"/>
                </a:solidFill>
              </a:defRPr>
            </a:pPr>
            <a:r>
              <a:t>Top restaurant chains comparison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2200" b="1">
                <a:solidFill>
                  <a:srgbClr val="000000"/>
                </a:solidFill>
              </a:defRPr>
            </a:pPr>
            <a:r>
              <a:t>Market growth trends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Data Presentation -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Market share percentages among leading restaurant chains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Outlet number comparison per chain in Singapore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Annual revenue comparison among top restaurant chains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Insights into market trends and growth opportunities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Market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2200" b="1">
                <a:solidFill>
                  <a:srgbClr val="000000"/>
                </a:solidFill>
              </a:defRPr>
            </a:pPr>
            <a:r>
              <a:t>Insights into market share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2200" b="1">
                <a:solidFill>
                  <a:srgbClr val="000000"/>
                </a:solidFill>
              </a:defRPr>
            </a:pPr>
            <a:r>
              <a:t>Potential for growth among new entrants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2200" b="1">
                <a:solidFill>
                  <a:srgbClr val="000000"/>
                </a:solidFill>
              </a:defRPr>
            </a:pPr>
            <a:r>
              <a:t>Identified challenges and opportunities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1800" b="1">
                <a:solidFill>
                  <a:srgbClr val="000000"/>
                </a:solidFill>
              </a:defRPr>
            </a:pPr>
            <a:r>
              <a:t>Analysis key takeaways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Strategic recommendations for stakeholders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Future outlook for Singapore's restaurant market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82880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Key Takeaways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Implications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Fast Casual Dining is Dominating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Investment in the fast casual dining sector yields positive returns due to its high growth.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Rise in Health-Conscious Eateries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Opportunities abound in niche markets focusing on health and wellness.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Technology Integration is Crucial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Adopting technology for order management and delivery services is essential for a competitive edge.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Importance of Sustainability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Sustainability practices influence customer choices, driving loyalty and repeat business.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COVID-19's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The necessity for adaptability in business models to manage unexpected industry shifts.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