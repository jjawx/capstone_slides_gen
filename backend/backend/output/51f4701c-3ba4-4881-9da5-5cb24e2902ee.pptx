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ctrTitle"/>
          </p:nvPr>
        </p:nvSpPr>
        <p:spPr/>
        <p:txBody>
          <a:bodyPr/>
          <a:lstStyle/>
          <a:p>
            <a:pPr>
              <a:defRPr sz="4000" b="1">
                <a:solidFill>
                  <a:srgbClr val="000000"/>
                </a:solidFill>
              </a:defRPr>
            </a:pPr>
            <a:r>
              <a:t>Singapore Milk Tea Market Share Analysis</a:t>
            </a:r>
          </a:p>
        </p:txBody>
      </p:sp>
      <p:sp>
        <p:nvSpPr>
          <p:cNvPr id="3" name="Subtitle 2"/>
          <p:cNvSpPr>
            <a:spLocks noGrp="1"/>
          </p:cNvSpPr>
          <p:nvPr>
            <p:ph type="subTitle" idx="1"/>
          </p:nvPr>
        </p:nvSpPr>
        <p:spPr/>
        <p:txBody>
          <a:bodyPr/>
          <a:lstStyle/>
          <a:p>
            <a:pPr>
              <a:defRPr sz="2000">
                <a:solidFill>
                  <a:srgbClr val="000000"/>
                </a:solidFill>
              </a:defRPr>
            </a:pPr>
            <a:r>
              <a:t>Presentation on the Analysis of Market Share in Singapore's Milk Tea Industry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Introduction</a:t>
            </a:r>
          </a:p>
        </p:txBody>
      </p:sp>
      <p:sp>
        <p:nvSpPr>
          <p:cNvPr id="3" name="Content Placeholder 2"/>
          <p:cNvSpPr>
            <a:spLocks noGrp="1"/>
          </p:cNvSpPr>
          <p:nvPr>
            <p:ph idx="1"/>
          </p:nvPr>
        </p:nvSpPr>
        <p:spPr/>
        <p:txBody>
          <a:bodyPr/>
          <a:lstStyle/>
          <a:p/>
          <a:p>
            <a:pPr>
              <a:spcBef>
                <a:spcPts val="700"/>
              </a:spcBef>
              <a:spcAft>
                <a:spcPts val="1400"/>
              </a:spcAft>
              <a:defRPr sz="2200">
                <a:solidFill>
                  <a:srgbClr val="000000"/>
                </a:solidFill>
              </a:defRPr>
            </a:pPr>
            <a:r>
              <a:t>Overview of the milk tea market in Singapore</a:t>
            </a:r>
          </a:p>
          <a:p>
            <a:pPr>
              <a:spcBef>
                <a:spcPts val="700"/>
              </a:spcBef>
              <a:spcAft>
                <a:spcPts val="1400"/>
              </a:spcAft>
              <a:defRPr sz="2200" b="1">
                <a:solidFill>
                  <a:srgbClr val="000000"/>
                </a:solidFill>
              </a:defRPr>
            </a:pPr>
            <a:r>
              <a:t>Goals of the market share analysis</a:t>
            </a:r>
          </a:p>
          <a:p>
            <a:pPr>
              <a:spcBef>
                <a:spcPts val="700"/>
              </a:spcBef>
              <a:spcAft>
                <a:spcPts val="1400"/>
              </a:spcAft>
              <a:defRPr sz="2200">
                <a:solidFill>
                  <a:srgbClr val="000000"/>
                </a:solidFill>
              </a:defRPr>
            </a:pPr>
            <a:r>
              <a:t>The significance of milk tea in Singapore's culture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Market Trends</a:t>
            </a:r>
          </a:p>
        </p:txBody>
      </p:sp>
      <p:sp>
        <p:nvSpPr>
          <p:cNvPr id="3" name="Content Placeholder 2"/>
          <p:cNvSpPr>
            <a:spLocks noGrp="1"/>
          </p:cNvSpPr>
          <p:nvPr>
            <p:ph idx="1" sz="half"/>
          </p:nvPr>
        </p:nvSpPr>
        <p:spPr/>
        <p:txBody>
          <a:bodyPr/>
          <a:lstStyle/>
          <a:p/>
          <a:p>
            <a:pPr>
              <a:spcBef>
                <a:spcPts val="700"/>
              </a:spcBef>
              <a:spcAft>
                <a:spcPts val="1400"/>
              </a:spcAft>
              <a:defRPr sz="1800">
                <a:solidFill>
                  <a:srgbClr val="000000"/>
                </a:solidFill>
              </a:defRPr>
            </a:pPr>
            <a:r>
              <a:t>The growing popularity of milk tea among Singaporeans</a:t>
            </a:r>
          </a:p>
        </p:txBody>
      </p:sp>
      <p:sp>
        <p:nvSpPr>
          <p:cNvPr id="4" name="Content Placeholder 3"/>
          <p:cNvSpPr>
            <a:spLocks noGrp="1"/>
          </p:cNvSpPr>
          <p:nvPr>
            <p:ph idx="2" sz="half"/>
          </p:nvPr>
        </p:nvSpPr>
        <p:spPr/>
        <p:txBody>
          <a:bodyPr/>
          <a:lstStyle/>
          <a:p/>
          <a:p>
            <a:pPr>
              <a:spcBef>
                <a:spcPts val="700"/>
              </a:spcBef>
              <a:spcAft>
                <a:spcPts val="1400"/>
              </a:spcAft>
              <a:defRPr sz="1800" b="1">
                <a:solidFill>
                  <a:srgbClr val="000000"/>
                </a:solidFill>
              </a:defRPr>
            </a:pPr>
            <a:r>
              <a:t>New trends shaping consumer preferences</a:t>
            </a:r>
          </a:p>
          <a:p>
            <a:pPr>
              <a:spcBef>
                <a:spcPts val="700"/>
              </a:spcBef>
              <a:spcAft>
                <a:spcPts val="1400"/>
              </a:spcAft>
              <a:defRPr sz="1800">
                <a:solidFill>
                  <a:srgbClr val="000000"/>
                </a:solidFill>
              </a:defRPr>
            </a:pPr>
            <a:r>
              <a:t>The influence of global trends on Singapore's milk tea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Market Share Analysis</a:t>
            </a:r>
          </a:p>
        </p:txBody>
      </p:sp>
      <p:sp>
        <p:nvSpPr>
          <p:cNvPr id="3" name="Content Placeholder 2"/>
          <p:cNvSpPr>
            <a:spLocks noGrp="1"/>
          </p:cNvSpPr>
          <p:nvPr>
            <p:ph idx="1" sz="half"/>
          </p:nvPr>
        </p:nvSpPr>
        <p:spPr/>
        <p:txBody>
          <a:bodyPr/>
          <a:lstStyle/>
          <a:p/>
          <a:p>
            <a:pPr>
              <a:spcBef>
                <a:spcPts val="700"/>
              </a:spcBef>
              <a:spcAft>
                <a:spcPts val="1400"/>
              </a:spcAft>
              <a:defRPr sz="1800">
                <a:solidFill>
                  <a:srgbClr val="000000"/>
                </a:solidFill>
              </a:defRPr>
            </a:pPr>
            <a:r>
              <a:t>Analysis of leading milk tea brands in Singapore</a:t>
            </a:r>
          </a:p>
        </p:txBody>
      </p:sp>
      <p:sp>
        <p:nvSpPr>
          <p:cNvPr id="4" name="Content Placeholder 3"/>
          <p:cNvSpPr>
            <a:spLocks noGrp="1"/>
          </p:cNvSpPr>
          <p:nvPr>
            <p:ph idx="2" sz="half"/>
          </p:nvPr>
        </p:nvSpPr>
        <p:spPr/>
        <p:txBody>
          <a:bodyPr/>
          <a:lstStyle/>
          <a:p/>
          <a:p>
            <a:pPr>
              <a:spcBef>
                <a:spcPts val="700"/>
              </a:spcBef>
              <a:spcAft>
                <a:spcPts val="1400"/>
              </a:spcAft>
              <a:defRPr sz="1800">
                <a:solidFill>
                  <a:srgbClr val="000000"/>
                </a:solidFill>
              </a:defRPr>
            </a:pPr>
            <a:r>
              <a:t>Examination of market share distribution</a:t>
            </a:r>
          </a:p>
          <a:p>
            <a:pPr>
              <a:spcBef>
                <a:spcPts val="700"/>
              </a:spcBef>
              <a:spcAft>
                <a:spcPts val="1400"/>
              </a:spcAft>
              <a:defRPr sz="1800" b="1">
                <a:solidFill>
                  <a:srgbClr val="000000"/>
                </a:solidFill>
              </a:defRPr>
            </a:pPr>
            <a:r>
              <a:t>Key factors affecting market share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Data Visualization</a:t>
            </a:r>
          </a:p>
        </p:txBody>
      </p:sp>
      <p:sp>
        <p:nvSpPr>
          <p:cNvPr id="3" name="Content Placeholder 2"/>
          <p:cNvSpPr>
            <a:spLocks noGrp="1"/>
          </p:cNvSpPr>
          <p:nvPr>
            <p:ph idx="1" sz="half"/>
          </p:nvPr>
        </p:nvSpPr>
        <p:spPr/>
        <p:txBody>
          <a:bodyPr/>
          <a:lstStyle/>
          <a:p/>
          <a:p>
            <a:pPr>
              <a:spcBef>
                <a:spcPts val="700"/>
              </a:spcBef>
              <a:spcAft>
                <a:spcPts val="1400"/>
              </a:spcAft>
              <a:defRPr sz="1800">
                <a:solidFill>
                  <a:srgbClr val="000000"/>
                </a:solidFill>
              </a:defRPr>
            </a:pPr>
            <a:r>
              <a:t>Line graphs depicting trends in market share over time</a:t>
            </a:r>
          </a:p>
        </p:txBody>
      </p:sp>
      <p:sp>
        <p:nvSpPr>
          <p:cNvPr id="4" name="Content Placeholder 3"/>
          <p:cNvSpPr>
            <a:spLocks noGrp="1"/>
          </p:cNvSpPr>
          <p:nvPr>
            <p:ph idx="2" sz="half"/>
          </p:nvPr>
        </p:nvSpPr>
        <p:spPr/>
        <p:txBody>
          <a:bodyPr/>
          <a:lstStyle/>
          <a:p/>
          <a:p>
            <a:pPr>
              <a:spcBef>
                <a:spcPts val="700"/>
              </a:spcBef>
              <a:spcAft>
                <a:spcPts val="1400"/>
              </a:spcAft>
              <a:defRPr sz="1800">
                <a:solidFill>
                  <a:srgbClr val="000000"/>
                </a:solidFill>
              </a:defRPr>
            </a:pPr>
            <a:r>
              <a:t>Comparative market share analysis using tables</a:t>
            </a:r>
          </a:p>
          <a:p>
            <a:pPr>
              <a:spcBef>
                <a:spcPts val="700"/>
              </a:spcBef>
              <a:spcAft>
                <a:spcPts val="1400"/>
              </a:spcAft>
              <a:defRPr sz="1800">
                <a:solidFill>
                  <a:srgbClr val="000000"/>
                </a:solidFill>
              </a:defRPr>
            </a:pPr>
            <a:r>
              <a:t>Interpreting data visualizations for strategic insights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000000"/>
                </a:solidFill>
              </a:defRPr>
            </a:pPr>
            <a:r>
              <a:t>Data Visualization - Details</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p:txBody>
      </p:sp>
      <p:sp>
        <p:nvSpPr>
          <p:cNvPr id="5" name="TextBox 4"/>
          <p:cNvSpPr txBox="1"/>
          <p:nvPr/>
        </p:nvSpPr>
        <p:spPr>
          <a:xfrm>
            <a:off x="731520" y="1828800"/>
            <a:ext cx="4572000" cy="4572000"/>
          </a:xfrm>
          <a:prstGeom prst="rect">
            <a:avLst/>
          </a:prstGeom>
          <a:noFill/>
        </p:spPr>
        <p:txBody>
          <a:bodyPr wrap="square">
            <a:spAutoFit/>
          </a:bodyPr>
          <a:lstStyle/>
          <a:p/>
          <a:p>
            <a:pPr algn="just">
              <a:spcAft>
                <a:spcPts val="1000"/>
              </a:spcAft>
              <a:defRPr sz="2400">
                <a:solidFill>
                  <a:srgbClr val="000000"/>
                </a:solidFill>
              </a:defRPr>
            </a:pPr>
            <a:r>
              <a:t>In the competitive landscape of Singapore's milk tea market, understanding market share dynamics is crucial for businesses aiming to optimize their strategies and capture more consumers. Data visualization plays an essential role in this analysis, transforming complex datasets into comprehensible graphs, charts, and maps that reveal trends, patterns, and outliers at a glance. By visualizing sales data, customer preferences, and distribution channels through various charts, stakeholders can swiftly identify dominant brands, preferred flavors among Singaporeans, and potential areas for expansion. Moreover, integrating data from diverse sources, including sales figures, social media analytics, and consumer surveys, enables a comprehensive market analysis.</a:t>
            </a:r>
          </a:p>
        </p:txBody>
      </p:sp>
      <p:pic>
        <p:nvPicPr>
          <p:cNvPr id="6" name="Picture 5" descr="image.jpg"/>
          <p:cNvPicPr>
            <a:picLocks noChangeAspect="1"/>
          </p:cNvPicPr>
          <p:nvPr/>
        </p:nvPicPr>
        <p:blipFill>
          <a:blip r:embed="rId2"/>
          <a:stretch>
            <a:fillRect/>
          </a:stretch>
        </p:blipFill>
        <p:spPr>
          <a:xfrm>
            <a:off x="5669280" y="1828800"/>
            <a:ext cx="3200400" cy="180022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pic>
        <p:nvPicPr>
          <p:cNvPr id="4" name="Picture 3"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Strategic Recommendations</a:t>
            </a:r>
          </a:p>
        </p:txBody>
      </p:sp>
      <p:sp>
        <p:nvSpPr>
          <p:cNvPr id="3" name="Content Placeholder 2"/>
          <p:cNvSpPr>
            <a:spLocks noGrp="1"/>
          </p:cNvSpPr>
          <p:nvPr>
            <p:ph idx="1"/>
          </p:nvPr>
        </p:nvSpPr>
        <p:spPr/>
        <p:txBody>
          <a:bodyPr/>
          <a:lstStyle/>
          <a:p/>
          <a:p>
            <a:pPr>
              <a:spcBef>
                <a:spcPts val="600"/>
              </a:spcBef>
              <a:spcAft>
                <a:spcPts val="1200"/>
              </a:spcAft>
              <a:defRPr sz="1800">
                <a:solidFill>
                  <a:srgbClr val="000000"/>
                </a:solidFill>
              </a:defRPr>
            </a:pPr>
            <a:r>
              <a:t>Innovate with localized milk tea flavors to cater to local tastes</a:t>
            </a:r>
          </a:p>
          <a:p>
            <a:pPr>
              <a:spcBef>
                <a:spcPts val="600"/>
              </a:spcBef>
              <a:spcAft>
                <a:spcPts val="1200"/>
              </a:spcAft>
              <a:defRPr sz="1800">
                <a:solidFill>
                  <a:srgbClr val="000000"/>
                </a:solidFill>
              </a:defRPr>
            </a:pPr>
            <a:r>
              <a:t>Maximize digital marketing and social media engagement</a:t>
            </a:r>
          </a:p>
          <a:p>
            <a:pPr>
              <a:spcBef>
                <a:spcPts val="600"/>
              </a:spcBef>
              <a:spcAft>
                <a:spcPts val="1200"/>
              </a:spcAft>
              <a:defRPr sz="1800">
                <a:solidFill>
                  <a:srgbClr val="000000"/>
                </a:solidFill>
              </a:defRPr>
            </a:pPr>
            <a:r>
              <a:t>Form strategic partnerships with popular local brands</a:t>
            </a:r>
          </a:p>
          <a:p>
            <a:pPr>
              <a:spcBef>
                <a:spcPts val="600"/>
              </a:spcBef>
              <a:spcAft>
                <a:spcPts val="1200"/>
              </a:spcAft>
              <a:defRPr sz="1800">
                <a:solidFill>
                  <a:srgbClr val="000000"/>
                </a:solidFill>
              </a:defRPr>
            </a:pPr>
            <a:r>
              <a:t>Adopt sustainable and eco-friendly packaging solutions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age.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defRPr sz="3200" b="1">
                <a:solidFill>
                  <a:srgbClr val="000000"/>
                </a:solidFill>
              </a:defRPr>
            </a:pPr>
            <a:r>
              <a:t>Conclusion</a:t>
            </a:r>
          </a:p>
        </p:txBody>
      </p:sp>
      <p:sp>
        <p:nvSpPr>
          <p:cNvPr id="3" name="Content Placeholder 2"/>
          <p:cNvSpPr>
            <a:spLocks noGrp="1"/>
          </p:cNvSpPr>
          <p:nvPr>
            <p:ph idx="1" sz="half"/>
          </p:nvPr>
        </p:nvSpPr>
        <p:spPr/>
        <p:txBody>
          <a:bodyPr/>
          <a:lstStyle/>
          <a:p/>
          <a:p>
            <a:pPr>
              <a:spcBef>
                <a:spcPts val="700"/>
              </a:spcBef>
              <a:spcAft>
                <a:spcPts val="1400"/>
              </a:spcAft>
              <a:defRPr sz="1800">
                <a:solidFill>
                  <a:srgbClr val="000000"/>
                </a:solidFill>
              </a:defRPr>
            </a:pPr>
            <a:r>
              <a:t>Summary of key insights from the Singapore Milk Tea Market Share Analysis</a:t>
            </a:r>
          </a:p>
        </p:txBody>
      </p:sp>
      <p:sp>
        <p:nvSpPr>
          <p:cNvPr id="4" name="Content Placeholder 3"/>
          <p:cNvSpPr>
            <a:spLocks noGrp="1"/>
          </p:cNvSpPr>
          <p:nvPr>
            <p:ph idx="2" sz="half"/>
          </p:nvPr>
        </p:nvSpPr>
        <p:spPr/>
        <p:txBody>
          <a:bodyPr/>
          <a:lstStyle/>
          <a:p/>
          <a:p>
            <a:pPr>
              <a:spcBef>
                <a:spcPts val="700"/>
              </a:spcBef>
              <a:spcAft>
                <a:spcPts val="1400"/>
              </a:spcAft>
              <a:defRPr sz="1800">
                <a:solidFill>
                  <a:srgbClr val="000000"/>
                </a:solidFill>
              </a:defRPr>
            </a:pPr>
            <a:r>
              <a:t>The criticality of maintaining competitiveness in Singapore's evolving milk tea market</a:t>
            </a:r>
          </a:p>
          <a:p>
            <a:pPr>
              <a:spcBef>
                <a:spcPts val="700"/>
              </a:spcBef>
              <a:spcAft>
                <a:spcPts val="1400"/>
              </a:spcAft>
              <a:defRPr sz="1800">
                <a:solidFill>
                  <a:srgbClr val="000000"/>
                </a:solidFill>
              </a:defRPr>
            </a:pPr>
            <a:r>
              <a:t>Final thoughts and strategic recommendations for stakeholders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aphicFrame>
        <p:nvGraphicFramePr>
          <p:cNvPr id="2" name="Table 1"/>
          <p:cNvGraphicFramePr>
            <a:graphicFrameLocks noGrp="1"/>
          </p:cNvGraphicFramePr>
          <p:nvPr/>
        </p:nvGraphicFramePr>
        <p:xfrm>
          <a:off x="914400" y="1828800"/>
          <a:ext cx="7315200" cy="3200400"/>
        </p:xfrm>
        <a:graphic>
          <a:graphicData uri="http://schemas.openxmlformats.org/drawingml/2006/table">
            <a:tbl>
              <a:tblPr firstRow="1" bandRow="1">
                <a:tableStyleId>{5C22544A-7EE6-4342-B048-85BDC9FD1C3A}</a:tableStyleId>
              </a:tblPr>
              <a:tblGrid>
                <a:gridCol w="1828800"/>
                <a:gridCol w="1828800"/>
                <a:gridCol w="1828800"/>
                <a:gridCol w="1828800"/>
              </a:tblGrid>
              <a:tr h="533400">
                <a:tc>
                  <a:txBody>
                    <a:bodyPr/>
                    <a:lstStyle/>
                    <a:p>
                      <a:pPr algn="ctr">
                        <a:defRPr b="1">
                          <a:solidFill>
                            <a:srgbClr val="FFFFFF"/>
                          </a:solidFill>
                        </a:defRPr>
                      </a:pPr>
                      <a:r>
                        <a:t>Company</a:t>
                      </a:r>
                    </a:p>
                  </a:txBody>
                  <a:tcPr>
                    <a:solidFill>
                      <a:srgbClr val="003366"/>
                    </a:solidFill>
                  </a:tcPr>
                </a:tc>
                <a:tc>
                  <a:txBody>
                    <a:bodyPr/>
                    <a:lstStyle/>
                    <a:p>
                      <a:pPr algn="ctr">
                        <a:defRPr b="1">
                          <a:solidFill>
                            <a:srgbClr val="FFFFFF"/>
                          </a:solidFill>
                        </a:defRPr>
                      </a:pPr>
                      <a:r>
                        <a:t>Market Share (%)</a:t>
                      </a:r>
                    </a:p>
                  </a:txBody>
                  <a:tcPr>
                    <a:solidFill>
                      <a:srgbClr val="003366"/>
                    </a:solidFill>
                  </a:tcPr>
                </a:tc>
                <a:tc>
                  <a:txBody>
                    <a:bodyPr/>
                    <a:lstStyle/>
                    <a:p>
                      <a:pPr algn="ctr">
                        <a:defRPr b="1">
                          <a:solidFill>
                            <a:srgbClr val="FFFFFF"/>
                          </a:solidFill>
                        </a:defRPr>
                      </a:pPr>
                      <a:r>
                        <a:t>Key Strength</a:t>
                      </a:r>
                    </a:p>
                  </a:txBody>
                  <a:tcPr>
                    <a:solidFill>
                      <a:srgbClr val="003366"/>
                    </a:solidFill>
                  </a:tcPr>
                </a:tc>
                <a:tc>
                  <a:txBody>
                    <a:bodyPr/>
                    <a:lstStyle/>
                    <a:p>
                      <a:pPr algn="ctr">
                        <a:defRPr b="1">
                          <a:solidFill>
                            <a:srgbClr val="FFFFFF"/>
                          </a:solidFill>
                        </a:defRPr>
                      </a:pPr>
                      <a:r>
                        <a:t>Primary Audience</a:t>
                      </a:r>
                    </a:p>
                  </a:txBody>
                  <a:tcPr>
                    <a:solidFill>
                      <a:srgbClr val="003366"/>
                    </a:solidFill>
                  </a:tcPr>
                </a:tc>
              </a:tr>
              <a:tr h="533400">
                <a:tc>
                  <a:txBody>
                    <a:bodyPr/>
                    <a:lstStyle/>
                    <a:p>
                      <a:pPr algn="l">
                        <a:defRPr sz="1400">
                          <a:solidFill>
                            <a:srgbClr val="000000"/>
                          </a:solidFill>
                        </a:defRPr>
                      </a:pPr>
                      <a:r>
                        <a:t>TeaCo</a:t>
                      </a:r>
                    </a:p>
                  </a:txBody>
                  <a:tcPr/>
                </a:tc>
                <a:tc>
                  <a:txBody>
                    <a:bodyPr/>
                    <a:lstStyle/>
                    <a:p>
                      <a:pPr algn="l">
                        <a:defRPr sz="1400">
                          <a:solidFill>
                            <a:srgbClr val="000000"/>
                          </a:solidFill>
                        </a:defRPr>
                      </a:pPr>
                      <a:r>
                        <a:t>25%</a:t>
                      </a:r>
                    </a:p>
                  </a:txBody>
                  <a:tcPr/>
                </a:tc>
                <a:tc>
                  <a:txBody>
                    <a:bodyPr/>
                    <a:lstStyle/>
                    <a:p>
                      <a:pPr algn="l">
                        <a:defRPr sz="1400">
                          <a:solidFill>
                            <a:srgbClr val="000000"/>
                          </a:solidFill>
                        </a:defRPr>
                      </a:pPr>
                      <a:r>
                        <a:t>Wide variety of flavors</a:t>
                      </a:r>
                    </a:p>
                  </a:txBody>
                  <a:tcPr/>
                </a:tc>
                <a:tc>
                  <a:txBody>
                    <a:bodyPr/>
                    <a:lstStyle/>
                    <a:p>
                      <a:pPr algn="l">
                        <a:defRPr sz="1400">
                          <a:solidFill>
                            <a:srgbClr val="000000"/>
                          </a:solidFill>
                        </a:defRPr>
                      </a:pPr>
                      <a:r>
                        <a:t>Young adults</a:t>
                      </a:r>
                    </a:p>
                  </a:txBody>
                  <a:tcPr/>
                </a:tc>
              </a:tr>
              <a:tr h="533400">
                <a:tc>
                  <a:txBody>
                    <a:bodyPr/>
                    <a:lstStyle/>
                    <a:p>
                      <a:pPr algn="l">
                        <a:defRPr sz="1400">
                          <a:solidFill>
                            <a:srgbClr val="000000"/>
                          </a:solidFill>
                        </a:defRPr>
                      </a:pPr>
                      <a:r>
                        <a:t>MilkTea Masters</a:t>
                      </a:r>
                    </a:p>
                  </a:txBody>
                  <a:tcPr/>
                </a:tc>
                <a:tc>
                  <a:txBody>
                    <a:bodyPr/>
                    <a:lstStyle/>
                    <a:p>
                      <a:pPr algn="l">
                        <a:defRPr sz="1400">
                          <a:solidFill>
                            <a:srgbClr val="000000"/>
                          </a:solidFill>
                        </a:defRPr>
                      </a:pPr>
                      <a:r>
                        <a:t>20%</a:t>
                      </a:r>
                    </a:p>
                  </a:txBody>
                  <a:tcPr/>
                </a:tc>
                <a:tc>
                  <a:txBody>
                    <a:bodyPr/>
                    <a:lstStyle/>
                    <a:p>
                      <a:pPr algn="l">
                        <a:defRPr sz="1400">
                          <a:solidFill>
                            <a:srgbClr val="000000"/>
                          </a:solidFill>
                        </a:defRPr>
                      </a:pPr>
                      <a:r>
                        <a:t>Strong brand loyalty</a:t>
                      </a:r>
                    </a:p>
                  </a:txBody>
                  <a:tcPr/>
                </a:tc>
                <a:tc>
                  <a:txBody>
                    <a:bodyPr/>
                    <a:lstStyle/>
                    <a:p>
                      <a:pPr algn="l">
                        <a:defRPr sz="1400">
                          <a:solidFill>
                            <a:srgbClr val="000000"/>
                          </a:solidFill>
                        </a:defRPr>
                      </a:pPr>
                      <a:r>
                        <a:t>Teens &amp; Young adults</a:t>
                      </a:r>
                    </a:p>
                  </a:txBody>
                  <a:tcPr/>
                </a:tc>
              </a:tr>
              <a:tr h="533400">
                <a:tc>
                  <a:txBody>
                    <a:bodyPr/>
                    <a:lstStyle/>
                    <a:p>
                      <a:pPr algn="l">
                        <a:defRPr sz="1400">
                          <a:solidFill>
                            <a:srgbClr val="000000"/>
                          </a:solidFill>
                        </a:defRPr>
                      </a:pPr>
                      <a:r>
                        <a:t>Brew &amp; Beyond</a:t>
                      </a:r>
                    </a:p>
                  </a:txBody>
                  <a:tcPr/>
                </a:tc>
                <a:tc>
                  <a:txBody>
                    <a:bodyPr/>
                    <a:lstStyle/>
                    <a:p>
                      <a:pPr algn="l">
                        <a:defRPr sz="1400">
                          <a:solidFill>
                            <a:srgbClr val="000000"/>
                          </a:solidFill>
                        </a:defRPr>
                      </a:pPr>
                      <a:r>
                        <a:t>15%</a:t>
                      </a:r>
                    </a:p>
                  </a:txBody>
                  <a:tcPr/>
                </a:tc>
                <a:tc>
                  <a:txBody>
                    <a:bodyPr/>
                    <a:lstStyle/>
                    <a:p>
                      <a:pPr algn="l">
                        <a:defRPr sz="1400">
                          <a:solidFill>
                            <a:srgbClr val="000000"/>
                          </a:solidFill>
                        </a:defRPr>
                      </a:pPr>
                      <a:r>
                        <a:t>Innovative brewing techniques</a:t>
                      </a:r>
                    </a:p>
                  </a:txBody>
                  <a:tcPr/>
                </a:tc>
                <a:tc>
                  <a:txBody>
                    <a:bodyPr/>
                    <a:lstStyle/>
                    <a:p>
                      <a:pPr algn="l">
                        <a:defRPr sz="1400">
                          <a:solidFill>
                            <a:srgbClr val="000000"/>
                          </a:solidFill>
                        </a:defRPr>
                      </a:pPr>
                      <a:r>
                        <a:t>Health-conscious consumers</a:t>
                      </a:r>
                    </a:p>
                  </a:txBody>
                  <a:tcPr/>
                </a:tc>
              </a:tr>
              <a:tr h="533400">
                <a:tc>
                  <a:txBody>
                    <a:bodyPr/>
                    <a:lstStyle/>
                    <a:p>
                      <a:pPr algn="l">
                        <a:defRPr sz="1400">
                          <a:solidFill>
                            <a:srgbClr val="000000"/>
                          </a:solidFill>
                        </a:defRPr>
                      </a:pPr>
                      <a:r>
                        <a:t>Tea Traditionalists</a:t>
                      </a:r>
                    </a:p>
                  </a:txBody>
                  <a:tcPr/>
                </a:tc>
                <a:tc>
                  <a:txBody>
                    <a:bodyPr/>
                    <a:lstStyle/>
                    <a:p>
                      <a:pPr algn="l">
                        <a:defRPr sz="1400">
                          <a:solidFill>
                            <a:srgbClr val="000000"/>
                          </a:solidFill>
                        </a:defRPr>
                      </a:pPr>
                      <a:r>
                        <a:t>10%</a:t>
                      </a:r>
                    </a:p>
                  </a:txBody>
                  <a:tcPr/>
                </a:tc>
                <a:tc>
                  <a:txBody>
                    <a:bodyPr/>
                    <a:lstStyle/>
                    <a:p>
                      <a:pPr algn="l">
                        <a:defRPr sz="1400">
                          <a:solidFill>
                            <a:srgbClr val="000000"/>
                          </a:solidFill>
                        </a:defRPr>
                      </a:pPr>
                      <a:r>
                        <a:t>Authentic recipes</a:t>
                      </a:r>
                    </a:p>
                  </a:txBody>
                  <a:tcPr/>
                </a:tc>
                <a:tc>
                  <a:txBody>
                    <a:bodyPr/>
                    <a:lstStyle/>
                    <a:p>
                      <a:pPr algn="l">
                        <a:defRPr sz="1400">
                          <a:solidFill>
                            <a:srgbClr val="000000"/>
                          </a:solidFill>
                        </a:defRPr>
                      </a:pPr>
                      <a:r>
                        <a:t>Older adults</a:t>
                      </a:r>
                    </a:p>
                  </a:txBody>
                  <a:tcPr/>
                </a:tc>
              </a:tr>
              <a:tr h="533400">
                <a:tc>
                  <a:txBody>
                    <a:bodyPr/>
                    <a:lstStyle/>
                    <a:p>
                      <a:pPr algn="l">
                        <a:defRPr sz="1400">
                          <a:solidFill>
                            <a:srgbClr val="000000"/>
                          </a:solidFill>
                        </a:defRPr>
                      </a:pPr>
                      <a:r>
                        <a:t>QuickTea</a:t>
                      </a:r>
                    </a:p>
                  </a:txBody>
                  <a:tcPr/>
                </a:tc>
                <a:tc>
                  <a:txBody>
                    <a:bodyPr/>
                    <a:lstStyle/>
                    <a:p>
                      <a:pPr algn="l">
                        <a:defRPr sz="1400">
                          <a:solidFill>
                            <a:srgbClr val="000000"/>
                          </a:solidFill>
                        </a:defRPr>
                      </a:pPr>
                      <a:r>
                        <a:t>5%</a:t>
                      </a:r>
                    </a:p>
                  </a:txBody>
                  <a:tcPr/>
                </a:tc>
                <a:tc>
                  <a:txBody>
                    <a:bodyPr/>
                    <a:lstStyle/>
                    <a:p>
                      <a:pPr algn="l">
                        <a:defRPr sz="1400">
                          <a:solidFill>
                            <a:srgbClr val="000000"/>
                          </a:solidFill>
                        </a:defRPr>
                      </a:pPr>
                      <a:r>
                        <a:t>Fast service and convenience</a:t>
                      </a:r>
                    </a:p>
                  </a:txBody>
                  <a:tcPr/>
                </a:tc>
                <a:tc>
                  <a:txBody>
                    <a:bodyPr/>
                    <a:lstStyle/>
                    <a:p>
                      <a:pPr algn="l">
                        <a:defRPr sz="1400">
                          <a:solidFill>
                            <a:srgbClr val="000000"/>
                          </a:solidFill>
                        </a:defRPr>
                      </a:pPr>
                      <a:r>
                        <a:t>Office workers</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